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30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B2B30"/>
                </a:solidFill>
                <a:latin typeface="Calibri"/>
              </a:rPr>
              <a:t>Monthly revenue (millions, approx.)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(M)</c:v>
                </c:pt>
              </c:strCache>
            </c:strRef>
          </c:tx>
          <c:spPr>
            <a:solidFill>
              <a:srgbClr val="2D7F8E"/>
            </a:solidFill>
            <a:ln w="38100" cap="flat">
              <a:solidFill>
                <a:srgbClr val="2D7F8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D7F8E"/>
              </a:solidFill>
              <a:ln w="9525" cap="flat">
                <a:solidFill>
                  <a:srgbClr val="2D7F8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Dec 10</c:v>
                  </c:pt>
                  <c:pt idx="1">
                    <c:v>Jan</c:v>
                  </c:pt>
                  <c:pt idx="2">
                    <c:v>Feb</c:v>
                  </c:pt>
                  <c:pt idx="3">
                    <c:v>Mar</c:v>
                  </c:pt>
                  <c:pt idx="4">
                    <c:v>Apr</c:v>
                  </c:pt>
                  <c:pt idx="5">
                    <c:v>May</c:v>
                  </c:pt>
                  <c:pt idx="6">
                    <c:v>Jun</c:v>
                  </c:pt>
                  <c:pt idx="7">
                    <c:v>Jul</c:v>
                  </c:pt>
                  <c:pt idx="8">
                    <c:v>Aug</c:v>
                  </c:pt>
                  <c:pt idx="9">
                    <c:v>Sep</c:v>
                  </c:pt>
                  <c:pt idx="10">
                    <c:v>Oct</c:v>
                  </c:pt>
                  <c:pt idx="11">
                    <c:v>Nov</c:v>
                  </c:pt>
                  <c:pt idx="12">
                    <c:v>Dec 11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0.82</c:v>
                </c:pt>
                <c:pt idx="1">
                  <c:v>0.7</c:v>
                </c:pt>
                <c:pt idx="2">
                  <c:v>0.52</c:v>
                </c:pt>
                <c:pt idx="3">
                  <c:v>0.72</c:v>
                </c:pt>
                <c:pt idx="4">
                  <c:v>0.54</c:v>
                </c:pt>
                <c:pt idx="5">
                  <c:v>0.78</c:v>
                </c:pt>
                <c:pt idx="6">
                  <c:v>0.76</c:v>
                </c:pt>
                <c:pt idx="7">
                  <c:v>0.72</c:v>
                </c:pt>
                <c:pt idx="8">
                  <c:v>0.76</c:v>
                </c:pt>
                <c:pt idx="9">
                  <c:v>1.06</c:v>
                </c:pt>
                <c:pt idx="10">
                  <c:v>1.16</c:v>
                </c:pt>
                <c:pt idx="11">
                  <c:v>1.51</c:v>
                </c:pt>
                <c:pt idx="12">
                  <c:v>0.64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l"/>
        <c:majorGridlines>
          <c:spPr>
            <a:ln w="6350" cap="flat">
              <a:solidFill>
                <a:srgbClr val="D5DD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30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B2B30"/>
                </a:solidFill>
                <a:latin typeface="Calibri"/>
              </a:rPr>
              <a:t>Revenue by country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2343B"/>
              </a:solidFill>
              <a:effectLst/>
            </c:spPr>
          </c:dPt>
          <c:dPt>
            <c:idx val="1"/>
            <c:bubble3D val="0"/>
            <c:spPr>
              <a:solidFill>
                <a:srgbClr val="F28C2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United Kingdom</c:v>
                </c:pt>
                <c:pt idx="1">
                  <c:v>All other countries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</c:v>
                </c:pt>
                <c:pt idx="1">
                  <c:v>1.64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B3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30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B2B30"/>
                </a:solidFill>
                <a:latin typeface="Calibri"/>
              </a:rPr>
              <a:t>Revenue by product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7F8E"/>
              </a:solidFill>
              <a:effectLst/>
            </c:spPr>
          </c:dPt>
          <c:dPt>
            <c:idx val="1"/>
            <c:bubble3D val="0"/>
            <c:spPr>
              <a:solidFill>
                <a:srgbClr val="B8C7C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1B2B3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1B2B3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Top 9 products</c:v>
                </c:pt>
                <c:pt idx="1">
                  <c:v>All other products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1.1</c:v>
                </c:pt>
                <c:pt idx="1">
                  <c:v>9.5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B3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overview: revenue analysis of UCI Online Retail data using Python/Pandas, visualized in Looker Studio.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scorecards from the Looker Studio dashboard. Currency symbol assumed GBP (UK retailer); confirm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Monthly values are read off the dashboard line chart, so they are approximate. Replace with exact numbers from outputs/monthly_sales.csv.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Shares are estimated from dashboard bar lengths; verify against top_products.csv and country_performance.csv.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Amounts read from the Top 10 Customers chart; the first bar has no label and likely represents blank customer IDs. Confirm in top_customers.csv.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Recommendations should be validated against exact figures in the output CSVs.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 &amp; Profitability Analytics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transactions, Dec 2010 – Dec 2011: revenue, products, countries and customers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Ramkrishna Majumder  |  Python · Pandas · Looker Studio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£10.6M revenue across 19,959 orders</a:t>
            </a:r>
            <a:endParaRPr lang="en-US" sz="3000" dirty="0"/>
          </a:p>
        </p:txBody>
      </p:sp>
      <p:sp>
        <p:nvSpPr>
          <p:cNvPr id="3" name="KPI card 1"/>
          <p:cNvSpPr/>
          <p:nvPr/>
        </p:nvSpPr>
        <p:spPr>
          <a:xfrm>
            <a:off x="457200" y="1463040"/>
            <a:ext cx="1920240" cy="1828800"/>
          </a:xfrm>
          <a:prstGeom prst="rect">
            <a:avLst/>
          </a:prstGeom>
          <a:solidFill>
            <a:srgbClr val="2D7F8E"/>
          </a:solidFill>
          <a:ln w="12700">
            <a:solidFill>
              <a:srgbClr val="2D7F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691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10.64M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06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600" dirty="0"/>
          </a:p>
        </p:txBody>
      </p:sp>
      <p:sp>
        <p:nvSpPr>
          <p:cNvPr id="6" name="KPI card 2"/>
          <p:cNvSpPr/>
          <p:nvPr/>
        </p:nvSpPr>
        <p:spPr>
          <a:xfrm>
            <a:off x="2542032" y="1463040"/>
            <a:ext cx="1920240" cy="1828800"/>
          </a:xfrm>
          <a:prstGeom prst="rect">
            <a:avLst/>
          </a:prstGeom>
          <a:solidFill>
            <a:srgbClr val="12343B"/>
          </a:solidFill>
          <a:ln w="12700">
            <a:solidFill>
              <a:srgbClr val="1234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42032" y="1691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19,959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542032" y="2606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600" dirty="0"/>
          </a:p>
        </p:txBody>
      </p:sp>
      <p:sp>
        <p:nvSpPr>
          <p:cNvPr id="9" name="KPI card 3"/>
          <p:cNvSpPr/>
          <p:nvPr/>
        </p:nvSpPr>
        <p:spPr>
          <a:xfrm>
            <a:off x="4626864" y="1463040"/>
            <a:ext cx="1920240" cy="18288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26864" y="1691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4,338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626864" y="2606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customers</a:t>
            </a:r>
            <a:endParaRPr lang="en-US" sz="1600" dirty="0"/>
          </a:p>
        </p:txBody>
      </p:sp>
      <p:sp>
        <p:nvSpPr>
          <p:cNvPr id="12" name="KPI card 4"/>
          <p:cNvSpPr/>
          <p:nvPr/>
        </p:nvSpPr>
        <p:spPr>
          <a:xfrm>
            <a:off x="6711696" y="1463040"/>
            <a:ext cx="1920240" cy="1828800"/>
          </a:xfrm>
          <a:prstGeom prst="rect">
            <a:avLst/>
          </a:prstGeom>
          <a:solidFill>
            <a:srgbClr val="2D7F8E"/>
          </a:solidFill>
          <a:ln w="12700">
            <a:solidFill>
              <a:srgbClr val="2D7F8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11696" y="16916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533.2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711696" y="2606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= quantity × unit price on valid positive-sales records. AOV = total revenue ÷ distinct invoices. This is revenue, not profit: costs are not in the data.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peak in November, driven by a late-year ramp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035040" y="1280160"/>
            <a:ext cx="2651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~1.5M in November 2011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rises from September (~1.1M) into November.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points: February and April, near 0.5M.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2011 drops to ~0.65M; check whether the month is partial before calling it a decline.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spread across products but concentrated in one market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39319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754880" y="1188720"/>
          <a:ext cx="39319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is about 85% of revenue (~9.0M); Netherlands, EIRE, Germany and France follow far behind. No single product dominates: the top 9 listed items add up to roughly a tenth of revenue. Postage-type items appear among the top 10, so confirm whether to exclude them.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value: a long tail plus a gap in the data</a:t>
            </a:r>
            <a:endParaRPr lang="en-US" sz="3000" dirty="0"/>
          </a:p>
        </p:txBody>
      </p:sp>
      <p:sp>
        <p:nvSpPr>
          <p:cNvPr id="3" name="Customer stat 1"/>
          <p:cNvSpPr/>
          <p:nvPr/>
        </p:nvSpPr>
        <p:spPr>
          <a:xfrm>
            <a:off x="457200" y="128016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~7.5M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40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"Others" outside the top 10 chart</a:t>
            </a:r>
            <a:endParaRPr lang="en-US" sz="1400" dirty="0"/>
          </a:p>
        </p:txBody>
      </p:sp>
      <p:sp>
        <p:nvSpPr>
          <p:cNvPr id="6" name="Customer stat 2"/>
          <p:cNvSpPr/>
          <p:nvPr/>
        </p:nvSpPr>
        <p:spPr>
          <a:xfrm>
            <a:off x="3246120" y="128016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46120" y="14173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~1.7M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240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bar has no customer ID label</a:t>
            </a:r>
            <a:endParaRPr lang="en-US" sz="1400" dirty="0"/>
          </a:p>
        </p:txBody>
      </p:sp>
      <p:sp>
        <p:nvSpPr>
          <p:cNvPr id="9" name="Customer stat 3"/>
          <p:cNvSpPr/>
          <p:nvPr/>
        </p:nvSpPr>
        <p:spPr>
          <a:xfrm>
            <a:off x="6035040" y="128016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4173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4,338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2240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customers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identified customers (14646, 18102, 17450 …) each contribute a small share, so growth depends on the wider base.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customer IDs limit customer-level analysis; check what that unlabeled bar represents before reporting top customers.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3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and limits</a:t>
            </a:r>
            <a:endParaRPr lang="en-US" sz="3000" dirty="0"/>
          </a:p>
        </p:txBody>
      </p:sp>
      <p:sp>
        <p:nvSpPr>
          <p:cNvPr id="3" name="Recommendation 1"/>
          <p:cNvSpPr/>
          <p:nvPr/>
        </p:nvSpPr>
        <p:spPr>
          <a:xfrm>
            <a:off x="457200" y="1280160"/>
            <a:ext cx="2606040" cy="2103120"/>
          </a:xfrm>
          <a:prstGeom prst="rect">
            <a:avLst/>
          </a:prstGeom>
          <a:solidFill>
            <a:srgbClr val="1E4A53"/>
          </a:solidFill>
          <a:ln w="12700">
            <a:solidFill>
              <a:srgbClr val="1E4A5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campaigns for high-value and repeat customers; the base beyond the top 10 drives most revenue.</a:t>
            </a:r>
            <a:endParaRPr lang="en-US" sz="1400" dirty="0"/>
          </a:p>
        </p:txBody>
      </p:sp>
      <p:sp>
        <p:nvSpPr>
          <p:cNvPr id="6" name="Recommendation 2"/>
          <p:cNvSpPr/>
          <p:nvPr/>
        </p:nvSpPr>
        <p:spPr>
          <a:xfrm>
            <a:off x="3246120" y="1280160"/>
            <a:ext cx="2606040" cy="2103120"/>
          </a:xfrm>
          <a:prstGeom prst="rect">
            <a:avLst/>
          </a:prstGeom>
          <a:solidFill>
            <a:srgbClr val="1E4A53"/>
          </a:solidFill>
          <a:ln w="12700">
            <a:solidFill>
              <a:srgbClr val="1E4A5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417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9202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ahead of September to November, when revenue climbs to its peak.</a:t>
            </a:r>
            <a:endParaRPr lang="en-US" sz="1400" dirty="0"/>
          </a:p>
        </p:txBody>
      </p:sp>
      <p:sp>
        <p:nvSpPr>
          <p:cNvPr id="9" name="Recommendation 3"/>
          <p:cNvSpPr/>
          <p:nvPr/>
        </p:nvSpPr>
        <p:spPr>
          <a:xfrm>
            <a:off x="6035040" y="1280160"/>
            <a:ext cx="2606040" cy="2103120"/>
          </a:xfrm>
          <a:prstGeom prst="rect">
            <a:avLst/>
          </a:prstGeom>
          <a:solidFill>
            <a:srgbClr val="1E4A53"/>
          </a:solidFill>
          <a:ln w="12700">
            <a:solidFill>
              <a:srgbClr val="1E4A5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417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9202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UK core and test growth in the next-largest countries.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no product or operating costs, so no true profit; cancellations and returns are not netted out; missing customer IDs.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Analytics Project</dc:title>
  <dc:subject>PptxGenJS Presentation</dc:subject>
  <dc:creator>Ramkrishna Majumder</dc:creator>
  <cp:lastModifiedBy>Ramkrishna Majumder</cp:lastModifiedBy>
  <cp:revision>1</cp:revision>
  <dcterms:created xsi:type="dcterms:W3CDTF">2026-10-26T14:50:53Z</dcterms:created>
  <dcterms:modified xsi:type="dcterms:W3CDTF">2026-10-26T14:50:53Z</dcterms:modified>
</cp:coreProperties>
</file>